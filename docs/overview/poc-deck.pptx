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Renewable-Energy Data-Engineering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7D2E6"/>
                </a:solidFill>
                <a:latin typeface="Calibri"/>
              </a:rPr>
              <a:t>Chilean renewable energy · Medallion lakehouse on Databricks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3 domains — Weather · Resource · Conglomerate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DLT · Auto Loader · Unity Catalog · AI/BI dashboards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FB0CB"/>
                </a:solidFill>
                <a:latin typeface="Calibri"/>
              </a:rPr>
              <a:t>Updated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7D2E6"/>
                </a:solidFill>
                <a:latin typeface="Calibri"/>
              </a:rPr>
              <a:t>Sources → Ingestion → Bronze → Silver → Gold → Consumption · governed by Unity Catalog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64317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Data sources — all on real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164592" cy="1234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Weather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554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62E"/>
                </a:solidFill>
                <a:latin typeface="Calibri"/>
              </a:rPr>
              <a:t>NASA POWER (hist hourly + 12-city world daily) · DMC (real-time) · MinEnergía/DGF (modeled)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164592" cy="1234440"/>
          </a:xfrm>
          <a:prstGeom prst="rect">
            <a:avLst/>
          </a:prstGeom>
          <a:solidFill>
            <a:srgbClr val="B8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Resource —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9718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62E"/>
                </a:solidFill>
                <a:latin typeface="Calibri"/>
              </a:rPr>
              <a:t>CEN / Coordinador — public by law (Art. 72-8, Ley 20.936), public key, no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43400"/>
            <a:ext cx="164592" cy="1234440"/>
          </a:xfrm>
          <a:prstGeom prst="rect">
            <a:avLst/>
          </a:prstGeom>
          <a:solidFill>
            <a:srgbClr val="2E8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891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Conglomerate — country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3891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62E"/>
                </a:solidFill>
                <a:latin typeface="Calibri"/>
              </a:rPr>
              <a:t>Our World in Data (OWID) — open CSV, Chile vs LATAM / World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Key unblock: CEN generation is public by law (no paid SIPUB account needed); NASA POWER serves clean history + a world benchmark.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Weather officialized in dedicated schemas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7D2E6"/>
                </a:solidFill>
                <a:latin typeface="Calibri"/>
              </a:rPr>
              <a:t>dev.weather_bronze / _silver / _gold — per-source + one consolidated all_sources per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566160" cy="3291840"/>
          </a:xfrm>
          <a:prstGeom prst="rect">
            <a:avLst/>
          </a:prstGeom>
          <a:solidFill>
            <a:srgbClr val="B0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weather_bronze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nasa_power · dmc · dgf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+ all_sources (882k)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raw ingested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554480"/>
            <a:ext cx="3566160" cy="329184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weather_silver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4688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nasa dim/fact · dmc dim/fact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dgf · + all_sources (881k)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cleaned + modeled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554480"/>
            <a:ext cx="3566160" cy="3291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737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weather_gold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4688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per-source KPIs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+ all_sources_kpi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chile/world daily (2yr + YTD)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Consolidated shape: source, location, resource, lat, lon, momento, ghi, temperatura, humedad, presion, viento, ...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Schemas &amp; key tables carry Unity Catalog COMMENTs; symmetric naming by region/period.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End-to-end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7D2E6"/>
                </a:solidFill>
                <a:latin typeface="Calibri"/>
              </a:rPr>
              <a:t>Fetch → UC Volume → Auto Loader → Bronze → Silver → Gold → Dashboards</a:t>
            </a:r>
          </a:p>
        </p:txBody>
      </p:sp>
      <p:pic>
        <p:nvPicPr>
          <p:cNvPr id="5" name="Picture 4" descr="data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972800" cy="71433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Weather medallion — tables &amp; row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7D2E6"/>
                </a:solidFill>
                <a:latin typeface="Calibri"/>
              </a:rPr>
              <a:t>dev.weather_bronze / _silver / _gold · per-source + consolidated all_sources</a:t>
            </a:r>
          </a:p>
        </p:txBody>
      </p:sp>
      <p:pic>
        <p:nvPicPr>
          <p:cNvPr id="5" name="Picture 4" descr="medallion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972800" cy="54586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AI/BI dashboards (Lakeview)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36192"/>
            <a:ext cx="164592" cy="960120"/>
          </a:xfrm>
          <a:prstGeom prst="rect">
            <a:avLst/>
          </a:prstGeom>
          <a:solidFill>
            <a:srgbClr val="2E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Weather — Chile &amp; Rest of World (2 tabs)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62E"/>
                </a:solidFill>
                <a:latin typeface="Calibri"/>
              </a:rPr>
              <a:t>Seasonality, trends, max/min/means of temperature, GHI, pressure, wind; per-location &amp; per-city; hemisphere inversion (12 world cities).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164592" cy="960120"/>
          </a:xfrm>
          <a:prstGeom prst="rect">
            <a:avLst/>
          </a:prstGeom>
          <a:solidFill>
            <a:srgbClr val="2E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70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Weather — Chile &amp; Rest of World, 2025–2026 YTD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54096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62E"/>
                </a:solidFill>
                <a:latin typeface="Calibri"/>
              </a:rPr>
              <a:t>Same views on the latest NASA POWER data (2025-01 → 2026-07).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50208"/>
            <a:ext cx="164592" cy="960120"/>
          </a:xfrm>
          <a:prstGeom prst="rect">
            <a:avLst/>
          </a:prstGeom>
          <a:solidFill>
            <a:srgbClr val="2E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7705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Weather NASA (time series + KPIs)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6110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62E"/>
                </a:solidFill>
                <a:latin typeface="Calibri"/>
              </a:rPr>
              <a:t>Monthly GHI/wind per plant + resource-KPI table (rank, A/B/C tier).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57216"/>
            <a:ext cx="164592" cy="960120"/>
          </a:xfrm>
          <a:prstGeom prst="rect">
            <a:avLst/>
          </a:prstGeom>
          <a:solidFill>
            <a:srgbClr val="2E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8406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3 Data-Quality Monitors + SQL 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6811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62E"/>
                </a:solidFill>
                <a:latin typeface="Calibri"/>
              </a:rPr>
              <a:t>Profiling + drift on gold, per domain, auto-generated dashboards.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Dashboard — Chile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7D2E6"/>
                </a:solidFill>
                <a:latin typeface="Calibri"/>
              </a:rPr>
              <a:t>Seasonality &amp; trends · rendered from dev.weather_silver.all_sources</a:t>
            </a:r>
          </a:p>
        </p:txBody>
      </p:sp>
      <p:pic>
        <p:nvPicPr>
          <p:cNvPr id="5" name="Picture 4" descr="dashboard-ch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32720" cy="66743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Dashboard — Rest of World 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7D2E6"/>
                </a:solidFill>
                <a:latin typeface="Calibri"/>
              </a:rPr>
              <a:t>Hemisphere seasonality · 12 cities · dev.weather_gold.world_daily_2023_2024</a:t>
            </a:r>
          </a:p>
        </p:txBody>
      </p:sp>
      <p:pic>
        <p:nvPicPr>
          <p:cNvPr id="5" name="Picture 4" descr="dashboard-wor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32720" cy="66035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Governance &amp; data quality — Databricks-native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62E"/>
                </a:solidFill>
                <a:latin typeface="Calibri"/>
              </a:rPr>
              <a:t>•  Data contracts documented for every medallion step (docs/data-contracts.md).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62E"/>
                </a:solidFill>
                <a:latin typeface="Calibri"/>
              </a:rPr>
              <a:t>•  DLT @dlt.expect_* on silver (Chile-bounds coords, known resource, valid keys/dates) + Delta constraints.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62E"/>
                </a:solidFill>
                <a:latin typeface="Calibri"/>
              </a:rPr>
              <a:t>•  Unity Catalog automatic lineage + column &amp; table comments; business/technical glossary.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62E"/>
                </a:solidFill>
                <a:latin typeface="Calibri"/>
              </a:rPr>
              <a:t>•  3 Lakehouse Data-Quality Monitors on gold (profiling + drift) + a SQL alert on failed expectations.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Status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8B72"/>
                </a:solidFill>
                <a:latin typeface="Calibri"/>
              </a:rPr>
              <a:t>Delivered &amp; verified in dev — consolidated in delivery ticket Trello #74.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62E"/>
                </a:solidFill>
                <a:latin typeface="Calibri"/>
              </a:rPr>
              <a:t>Weather complete across the medallion (raw / silver / gold) in dedicated schemas + dashboards.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22262E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62E"/>
                </a:solidFill>
                <a:latin typeface="Calibri"/>
              </a:rPr>
              <a:t>PRs #24–#28 were closed without merge (team's main advanced separately); work lives on fork branches, ready to re-integrate.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62E"/>
                </a:solidFill>
                <a:latin typeface="Calibri"/>
              </a:rPr>
              <a:t>Priority: CI fix (#27) — old CI deploys to prod on approval and runs no tests.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62E"/>
                </a:solidFill>
                <a:latin typeface="Calibri"/>
              </a:rPr>
              <a:t>Next: wire DMC real-time as a job; make fetchers incremental; re-integrate branches with the project lead.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69280"/>
            <a:ext cx="109728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55B66"/>
                </a:solidFill>
                <a:latin typeface="Calibri"/>
              </a:rPr>
              <a:t>All work in dev + branches; production is the project lead's.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