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0F172A"/>
                </a:solidFill>
              </a:defRPr>
            </a:pPr>
            <a:r>
              <a:t>Renewable-Energy PoC</a:t>
            </a:r>
          </a:p>
          <a:p>
            <a:pPr algn="ctr">
              <a:defRPr sz="2200">
                <a:solidFill>
                  <a:srgbClr val="0284C7"/>
                </a:solidFill>
              </a:defRPr>
            </a:pPr>
            <a:r>
              <a:t>Chilean renewable-energy medallion on Databricks</a:t>
            </a:r>
          </a:p>
          <a:p>
            <a:pPr algn="ctr">
              <a:defRPr sz="1400" i="1">
                <a:solidFill>
                  <a:srgbClr val="64748B"/>
                </a:solidFill>
              </a:defRPr>
            </a:pPr>
            <a:r>
              <a:t>4 data sources - 3 domains - governed, monitored, dashboarded - dev  |  2026-07-21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284C7"/>
                </a:solidFill>
              </a:defRPr>
            </a:pPr>
            <a:r>
              <a:t>Four data sources - all real data</a:t>
            </a:r>
          </a:p>
          <a:p>
            <a:pPr>
              <a:defRPr sz="1300" i="1">
                <a:solidFill>
                  <a:srgbClr val="64748B"/>
                </a:solidFill>
              </a:defRPr>
            </a:pPr>
            <a:r>
              <a:t>The ingestion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Weather: NASA POWER (historical) + DMC (real-time) + MinEnergia/DGF (modeled)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Resource (generation): CEN - public by law, no cost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Conglomerate (country): OWID - open 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284C7"/>
                </a:solidFill>
              </a:defRPr>
            </a:pPr>
            <a:r>
              <a:t>Architecture (medallion on Databricks)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63518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284C7"/>
                </a:solidFill>
              </a:defRPr>
            </a:pPr>
            <a:r>
              <a:t>End-to-end workflow</a:t>
            </a:r>
          </a:p>
        </p:txBody>
      </p:sp>
      <p:pic>
        <p:nvPicPr>
          <p:cNvPr id="3" name="Picture 2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6211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59669"/>
                </a:solidFill>
              </a:defRPr>
            </a:pPr>
            <a:r>
              <a:t>Weather NASA - star schema + marts +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Silver STAR: dim_plant + fact_weather_hourly (876,720 rows, 10 years, DQ)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Gold marts: resource KPI + daily (36,530) + monthly (1,200)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AI/BI dashboard: monthly GHI/wind per plant + KPI table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Reproducible as DLT pipeline weather_nasa (bundle validate OK)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59669"/>
                </a:solidFill>
              </a:defRPr>
            </a:pPr>
            <a:r>
              <a:t>Results (verified in dev)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Medallion end-to-end for all three domains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Weather: 876,720-row 10-year load; Atacama highest irradiance (valid)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Resource: real per-plant generation (coord/real/reduc)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Conglomerate: Chile-vs-World renewables lead +19 -&gt; +38 (2017-2024)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284C7"/>
                </a:solidFill>
              </a:defRPr>
            </a:pPr>
            <a:r>
              <a:t>Governance, quality &amp;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Data contracts per medallion step + data glossary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DLT expectations enforce quality in-pipeline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Three Data-Quality Monitors on gold (profiling + drift, auto dashboards)</a:t>
            </a:r>
          </a:p>
          <a:p>
            <a:pPr>
              <a:spcAft>
                <a:spcPts val="600"/>
              </a:spcAft>
              <a:defRPr sz="1800">
                <a:solidFill>
                  <a:srgbClr val="0F172A"/>
                </a:solidFill>
              </a:defRPr>
            </a:pPr>
            <a:r>
              <a:t>AI/BI dashboards (time series + KPIs) + SQL alert on failures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